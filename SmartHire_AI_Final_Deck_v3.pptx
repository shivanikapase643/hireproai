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9293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97B1F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45720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E97B1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457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5029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SmartHire AI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4114800" cy="502920"/>
          </a:xfrm>
          <a:prstGeom prst="roundRect">
            <a:avLst>
              <a:gd name="adj" fmla="val 9091"/>
            </a:avLst>
          </a:prstGeom>
          <a:solidFill>
            <a:srgbClr val="E97B1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630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ROUND 1 · 2026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Placement</a:t>
            </a:r>
            <a:endParaRPr lang="en-US" sz="4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 Platform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640080" y="41148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E97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"Prepare. Perform. Get Placed."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47548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placement preparation from scattered guesswork to AI-driven,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personalized career readiness for every student.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5577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TwinTech  |  Yashvant &amp; Shivani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6035040"/>
            <a:ext cx="2606040" cy="640080"/>
          </a:xfrm>
          <a:prstGeom prst="roundRect">
            <a:avLst>
              <a:gd name="adj" fmla="val 7143"/>
            </a:avLst>
          </a:prstGeom>
          <a:solidFill>
            <a:srgbClr val="E97B1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60350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45920" y="60350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E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feel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E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unprepared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429000" y="6035040"/>
            <a:ext cx="2606040" cy="640080"/>
          </a:xfrm>
          <a:prstGeom prst="roundRect">
            <a:avLst>
              <a:gd name="adj" fmla="val 7143"/>
            </a:avLst>
          </a:prstGeom>
          <a:solidFill>
            <a:srgbClr val="E97B1F"/>
          </a:solidFill>
          <a:ln/>
        </p:spPr>
      </p:sp>
      <p:sp>
        <p:nvSpPr>
          <p:cNvPr id="17" name="Text 15"/>
          <p:cNvSpPr/>
          <p:nvPr/>
        </p:nvSpPr>
        <p:spPr>
          <a:xfrm>
            <a:off x="3566160" y="60350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434840" y="60350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E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Resumes rejected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E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ATS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217920" y="6035040"/>
            <a:ext cx="2606040" cy="640080"/>
          </a:xfrm>
          <a:prstGeom prst="roundRect">
            <a:avLst>
              <a:gd name="adj" fmla="val 7143"/>
            </a:avLst>
          </a:prstGeom>
          <a:solidFill>
            <a:srgbClr val="E97B1F"/>
          </a:solidFill>
          <a:ln/>
        </p:spPr>
      </p:sp>
      <p:sp>
        <p:nvSpPr>
          <p:cNvPr id="20" name="Text 18"/>
          <p:cNvSpPr/>
          <p:nvPr/>
        </p:nvSpPr>
        <p:spPr>
          <a:xfrm>
            <a:off x="6355080" y="60350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5-10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223760" y="60350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E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juggled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E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prep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9006840" y="6035040"/>
            <a:ext cx="2606040" cy="640080"/>
          </a:xfrm>
          <a:prstGeom prst="roundRect">
            <a:avLst>
              <a:gd name="adj" fmla="val 7143"/>
            </a:avLst>
          </a:prstGeom>
          <a:solidFill>
            <a:srgbClr val="E97B1F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0" y="60350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$2.1B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12680" y="60350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E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Ed-tech placement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E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97B1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7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Preparation Faces a Multi-Dimensional Crisis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10972800" cy="36576"/>
          </a:xfrm>
          <a:prstGeom prst="rect">
            <a:avLst/>
          </a:prstGeom>
          <a:solidFill>
            <a:srgbClr val="E97B1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91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are trapped in a cycle of scattered preparation. Without unified AI tools, they face compounding challenges from fragmented resources, interview anxiety, and missed opportunities.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F5DEB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286000"/>
            <a:ext cx="2606040" cy="54864"/>
          </a:xfrm>
          <a:prstGeom prst="rect">
            <a:avLst/>
          </a:prstGeom>
          <a:solidFill>
            <a:srgbClr val="E97B1F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2514600"/>
            <a:ext cx="502920" cy="502920"/>
          </a:xfrm>
          <a:prstGeom prst="ellipse">
            <a:avLst/>
          </a:prstGeom>
          <a:solidFill>
            <a:srgbClr val="E97B1F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251460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329184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5-10 different platforms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unified progress tracking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Context-switching overhead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Inconsistent quality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429000" y="228600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F5DEB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29000" y="2286000"/>
            <a:ext cx="2606040" cy="5486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6" name="Shape 14"/>
          <p:cNvSpPr/>
          <p:nvPr/>
        </p:nvSpPr>
        <p:spPr>
          <a:xfrm>
            <a:off x="3611880" y="2514600"/>
            <a:ext cx="502920" cy="50292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7" name="Text 15"/>
          <p:cNvSpPr/>
          <p:nvPr/>
        </p:nvSpPr>
        <p:spPr>
          <a:xfrm>
            <a:off x="361188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206240" y="251460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Anxiety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11880" y="329184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78% report high stress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Coaching costs ₹10K-50K+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realistic practice access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feedback on performance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17920" y="228600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F5DEB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2286000"/>
            <a:ext cx="260604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0" y="2514600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995160" y="251460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Resume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0" y="329184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75% never reach recruiters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Wrong keywords &amp; format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professional feedback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Generic templates fail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006840" y="228600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F5DEB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006840" y="2286000"/>
            <a:ext cx="260604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8" name="Shape 26"/>
          <p:cNvSpPr/>
          <p:nvPr/>
        </p:nvSpPr>
        <p:spPr>
          <a:xfrm>
            <a:off x="9189720" y="251460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9" name="Text 27"/>
          <p:cNvSpPr/>
          <p:nvPr/>
        </p:nvSpPr>
        <p:spPr>
          <a:xfrm>
            <a:off x="918972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784080" y="251460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189720" y="329184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20-50+ applications untracked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Missed deadlines &amp; follow-ups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analytics on success rate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Lost opportunities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0080" y="5852160"/>
            <a:ext cx="10972800" cy="594360"/>
          </a:xfrm>
          <a:prstGeom prst="roundRect">
            <a:avLst>
              <a:gd name="adj" fmla="val 7692"/>
            </a:avLst>
          </a:prstGeom>
          <a:solidFill>
            <a:srgbClr val="2D6B22"/>
          </a:solidFill>
          <a:ln/>
        </p:spPr>
      </p:sp>
      <p:sp>
        <p:nvSpPr>
          <p:cNvPr id="33" name="Text 31"/>
          <p:cNvSpPr/>
          <p:nvPr/>
        </p:nvSpPr>
        <p:spPr>
          <a:xfrm>
            <a:off x="914400" y="585216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97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₹50,000+ Crore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4206240" y="58521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productivity lost by Indian students due to poor placement prep, scattered resources, and lack of affordable coaching.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SmartHire AI · AI-Powered Placement Preparation Platform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97B1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7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Solutions Are Fragmented &amp; Ineffective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10972800" cy="36576"/>
          </a:xfrm>
          <a:prstGeom prst="rect">
            <a:avLst/>
          </a:prstGeom>
          <a:solidFill>
            <a:srgbClr val="E97B1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91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today rely on a patchwork of disconnected tools, none of which provide end-to-end placement preparation. Each tool solves only one piece of the puzzle.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86000"/>
          <a:ext cx="10972800" cy="29718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 Category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Coaching Centers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T.I.M.E., Career Launcher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Personalized mentorship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₹10K-50K cost, location-bound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Interview Apps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InterviewBit, Pramp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Practice problems, mock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resume analysis or tracking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Resume Tools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Canva, Resume.io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Templates &amp; formatting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ATS scoring or AI feedback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 Portals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Naukri, LinkedIn, Indeed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 listings &amp; networking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prep, no AI guidance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Spreadsheets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Excel, Google Sheets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Free, customizable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Manual, no automation/insights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40080" y="5760720"/>
            <a:ext cx="10972800" cy="685800"/>
          </a:xfrm>
          <a:prstGeom prst="roundRect">
            <a:avLst>
              <a:gd name="adj" fmla="val 6667"/>
            </a:avLst>
          </a:prstGeom>
          <a:solidFill>
            <a:srgbClr val="FFF3E0"/>
          </a:solidFill>
          <a:ln w="12700">
            <a:solidFill>
              <a:srgbClr val="E97B1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57607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The Gap: No single platform unifies AI mock interviews + ATS resume scoring + smart job tracking with personalized career guidance — until SmartHire AI.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SmartHire AI · AI-Powered Placement Preparation Platform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97B1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7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SmartHire AI — Complete Placement Ecosystem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10972800" cy="36576"/>
          </a:xfrm>
          <a:prstGeom prst="rect">
            <a:avLst/>
          </a:prstGeom>
          <a:solidFill>
            <a:srgbClr val="E97B1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91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integrated AI platform that transforms scattered preparation into a structured, personalized, and intelligent placement readiness journey for every student.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24028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5DEB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240280"/>
            <a:ext cx="3566160" cy="54864"/>
          </a:xfrm>
          <a:prstGeom prst="rect">
            <a:avLst/>
          </a:prstGeom>
          <a:solidFill>
            <a:srgbClr val="2D6B22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4231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  MOCK INTERVIEW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301752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chatbot conducts realistic technical &amp; HR interviews with adaptive difficulty &amp; scoring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89120" y="224028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5DEB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2240280"/>
            <a:ext cx="3566160" cy="54864"/>
          </a:xfrm>
          <a:prstGeom prst="rect">
            <a:avLst/>
          </a:prstGeom>
          <a:solidFill>
            <a:srgbClr val="E97B1F"/>
          </a:solidFill>
          <a:ln/>
        </p:spPr>
      </p:sp>
      <p:sp>
        <p:nvSpPr>
          <p:cNvPr id="14" name="Text 12"/>
          <p:cNvSpPr/>
          <p:nvPr/>
        </p:nvSpPr>
        <p:spPr>
          <a:xfrm>
            <a:off x="4617720" y="24231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  RESUME ANALYZER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17720" y="301752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scoring engine with keyword optimization, format validation &amp; actionable recommendations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138160" y="224028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5DEB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2240280"/>
            <a:ext cx="356616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8366760" y="24231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  JOB TRACKER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366760" y="301752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dashboard to manage applications, deadlines, interviews with analytics &amp; calendar sync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434340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5DEB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4343400"/>
            <a:ext cx="35661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5262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  AI FEEDBACK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" y="512064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improvement plans based on interview performance &amp; resume quality analysis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89120" y="434340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5DEB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89120" y="4343400"/>
            <a:ext cx="35661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4617720" y="45262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  ANALYTICS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617720" y="512064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tracking, success rates, weakness identification &amp; skill gap analysis over time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138160" y="434340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5DEB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38160" y="4343400"/>
            <a:ext cx="35661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8366760" y="45262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🎙️    VOICE MODE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366760" y="512064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 interview practice with pronunciation feedback &amp; confidence scoring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SmartHire AI · AI-Powered Placement Preparation Platform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97B1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7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Goals &amp; Mission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10972800" cy="36576"/>
          </a:xfrm>
          <a:prstGeom prst="rect">
            <a:avLst/>
          </a:prstGeom>
          <a:solidFill>
            <a:srgbClr val="E97B1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91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SmartHire AI is built with clear, measurable objectives to revolutionize placement preparation for every Indian student.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5DEB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468880"/>
            <a:ext cx="640080" cy="457200"/>
          </a:xfrm>
          <a:prstGeom prst="roundRect">
            <a:avLst>
              <a:gd name="adj" fmla="val 8000"/>
            </a:avLst>
          </a:prstGeom>
          <a:solidFill>
            <a:srgbClr val="E97B1F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4688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554480" y="24688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Democratize Quality Prep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306324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AI-powered placement preparation accessible to every student regardless of college tier or financial background.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89120" y="228600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5DEB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2468880"/>
            <a:ext cx="640080" cy="457200"/>
          </a:xfrm>
          <a:prstGeom prst="roundRect">
            <a:avLst>
              <a:gd name="adj" fmla="val 8000"/>
            </a:avLst>
          </a:prstGeom>
          <a:solidFill>
            <a:srgbClr val="2D6B22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24688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03520" y="24688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Unify Fragmented Tools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0" y="306324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5-10 disconnected platforms with one cohesive AI ecosystem that handles every aspect of placement prep.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138160" y="228600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5DEB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21040" y="2468880"/>
            <a:ext cx="640080" cy="457200"/>
          </a:xfrm>
          <a:prstGeom prst="roundRect">
            <a:avLst>
              <a:gd name="adj" fmla="val 8000"/>
            </a:avLst>
          </a:prstGeom>
          <a:solidFill>
            <a:srgbClr val="1E40AF"/>
          </a:solidFill>
          <a:ln/>
        </p:spPr>
      </p:sp>
      <p:sp>
        <p:nvSpPr>
          <p:cNvPr id="20" name="Text 18"/>
          <p:cNvSpPr/>
          <p:nvPr/>
        </p:nvSpPr>
        <p:spPr>
          <a:xfrm>
            <a:off x="8321040" y="24688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052560" y="24688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Interview Skills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321040" y="306324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unlimited realistic mock interviews with adaptive difficulty, instant NLP-based feedback, and progress tracking.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0080" y="429768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5DEB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" y="4480560"/>
            <a:ext cx="640080" cy="457200"/>
          </a:xfrm>
          <a:prstGeom prst="roundRect">
            <a:avLst>
              <a:gd name="adj" fmla="val 8000"/>
            </a:avLst>
          </a:prstGeom>
          <a:solidFill>
            <a:srgbClr val="0891B2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44805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554480" y="4480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Resume Quality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2960" y="507492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students build ATS-compliant resumes with 85%+ compatibility scores using AI-powered optimization &amp; keyword analysis.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89120" y="429768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5DEB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0" y="4480560"/>
            <a:ext cx="640080" cy="4572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0" y="44805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03520" y="4480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Career Progress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0" y="507492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 all job applications, deadlines, and interviews with smart analytics and AI-driven insights.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138160" y="429768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5DEB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21040" y="4480560"/>
            <a:ext cx="640080" cy="457200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/>
        </p:spPr>
      </p:sp>
      <p:sp>
        <p:nvSpPr>
          <p:cNvPr id="35" name="Text 33"/>
          <p:cNvSpPr/>
          <p:nvPr/>
        </p:nvSpPr>
        <p:spPr>
          <a:xfrm>
            <a:off x="8321040" y="44805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052560" y="4480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Career Guidance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321040" y="507492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personalized career path recommendations with skill gap analysis, learning resources, and market trends.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SmartHire AI · AI-Powered Placement Preparation Platform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97B1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7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DIAGRAM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— Scalable, Modular, Cloud-Native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10972800" cy="36576"/>
          </a:xfrm>
          <a:prstGeom prst="rect">
            <a:avLst/>
          </a:prstGeom>
          <a:solidFill>
            <a:srgbClr val="E97B1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microservices architecture designed for 100K+ concurrent users with 99.9% uptime.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194560"/>
            <a:ext cx="103327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1E40A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194560"/>
            <a:ext cx="137160" cy="6858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219456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Layer (Frontend)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0" y="219456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 + Tailwind CSS + Redux Toolkit • Responsive UI • Real-time updates via Socket.io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51035" y="2994660"/>
            <a:ext cx="103327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2D6B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971800"/>
            <a:ext cx="137160" cy="685800"/>
          </a:xfrm>
          <a:prstGeom prst="rect">
            <a:avLst/>
          </a:prstGeom>
          <a:solidFill>
            <a:srgbClr val="2D6B22"/>
          </a:solidFill>
          <a:ln/>
        </p:spPr>
      </p:sp>
      <p:sp>
        <p:nvSpPr>
          <p:cNvPr id="14" name="Text 12"/>
          <p:cNvSpPr/>
          <p:nvPr/>
        </p:nvSpPr>
        <p:spPr>
          <a:xfrm>
            <a:off x="1280160" y="297180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97680" y="297180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• JWT/OAuth Auth • Rate Limiting • CORS • Request Validation • Helmet Security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4400" y="3749040"/>
            <a:ext cx="103327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3749040"/>
            <a:ext cx="137160" cy="685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1280160" y="374904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Layer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97680" y="374904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Service  |  Interview Service  |  Resume Service  |  Tracker Service  |  Notification Service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14400" y="4526280"/>
            <a:ext cx="103327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E97B1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4526280"/>
            <a:ext cx="137160" cy="685800"/>
          </a:xfrm>
          <a:prstGeom prst="rect">
            <a:avLst/>
          </a:prstGeom>
          <a:solidFill>
            <a:srgbClr val="E97B1F"/>
          </a:solidFill>
          <a:ln/>
        </p:spPr>
      </p:sp>
      <p:sp>
        <p:nvSpPr>
          <p:cNvPr id="22" name="Text 20"/>
          <p:cNvSpPr/>
          <p:nvPr/>
        </p:nvSpPr>
        <p:spPr>
          <a:xfrm>
            <a:off x="1280160" y="452628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7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Pipeline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297680" y="452628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Pro API  |  spaCy NLP  |  Speech-to-Text  |  Scoring Models  |  Vector Search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14400" y="5303520"/>
            <a:ext cx="103327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0" y="5303520"/>
            <a:ext cx="137160" cy="6858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1280160" y="530352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297680" y="530352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• Redis Cache • AWS S3 Storage • Cloudinary CDN • Pinecone Vector DB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43600" y="2889504"/>
            <a:ext cx="3657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</a:rPr>
              <a:t>▼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943600" y="3666744"/>
            <a:ext cx="3657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</a:rPr>
              <a:t>▼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943600" y="4443984"/>
            <a:ext cx="3657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</a:rPr>
              <a:t>▼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943600" y="5221224"/>
            <a:ext cx="3657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</a:rPr>
              <a:t>▼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0080" y="6126480"/>
            <a:ext cx="10972800" cy="502920"/>
          </a:xfrm>
          <a:prstGeom prst="roundRect">
            <a:avLst>
              <a:gd name="adj" fmla="val 9091"/>
            </a:avLst>
          </a:prstGeom>
          <a:solidFill>
            <a:srgbClr val="2D6B22"/>
          </a:solidFill>
          <a:ln/>
        </p:spPr>
      </p:sp>
      <p:sp>
        <p:nvSpPr>
          <p:cNvPr id="33" name="Text 31"/>
          <p:cNvSpPr/>
          <p:nvPr/>
        </p:nvSpPr>
        <p:spPr>
          <a:xfrm>
            <a:off x="914400" y="6126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7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99.9%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14400" y="64008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611880" y="6126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7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&lt;200ms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611880" y="64008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Response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309360" y="6126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7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100K+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309360" y="64008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Users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9006840" y="6126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7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006840" y="64008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Native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SmartHire AI · AI-Powered Placement Preparation Platform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800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25A75C69-D267-6058-3939-5F377CC6F1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45920"/>
            <a:ext cx="10808326" cy="44119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97B1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7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Enterprise-Grade, Modern &amp; Scalable Infrastructure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10972800" cy="36576"/>
          </a:xfrm>
          <a:prstGeom prst="rect">
            <a:avLst/>
          </a:prstGeom>
          <a:solidFill>
            <a:srgbClr val="E97B1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828800"/>
            <a:ext cx="2148840" cy="384048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F5DEB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28800"/>
            <a:ext cx="2148840" cy="548640"/>
          </a:xfrm>
          <a:prstGeom prst="roundRect">
            <a:avLst>
              <a:gd name="adj" fmla="val 13333"/>
            </a:avLst>
          </a:prstGeom>
          <a:solidFill>
            <a:srgbClr val="2D6B22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194560"/>
            <a:ext cx="2148840" cy="182880"/>
          </a:xfrm>
          <a:prstGeom prst="rect">
            <a:avLst/>
          </a:prstGeom>
          <a:solidFill>
            <a:srgbClr val="2D6B2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82880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2606040"/>
            <a:ext cx="19202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React 18 + Vite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Tailwind CSS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Shadcn/UI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Redux Toolkit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Chart.js / Recharts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88920" y="1828800"/>
            <a:ext cx="2148840" cy="384048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F5DEB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88920" y="1828800"/>
            <a:ext cx="2148840" cy="548640"/>
          </a:xfrm>
          <a:prstGeom prst="roundRect">
            <a:avLst>
              <a:gd name="adj" fmla="val 13333"/>
            </a:avLst>
          </a:prstGeom>
          <a:solidFill>
            <a:srgbClr val="0891B2"/>
          </a:solidFill>
          <a:ln/>
        </p:spPr>
      </p:sp>
      <p:sp>
        <p:nvSpPr>
          <p:cNvPr id="14" name="Shape 12"/>
          <p:cNvSpPr/>
          <p:nvPr/>
        </p:nvSpPr>
        <p:spPr>
          <a:xfrm>
            <a:off x="2788920" y="2194560"/>
            <a:ext cx="2148840" cy="1828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2788920" y="182880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926080" y="2606040"/>
            <a:ext cx="19202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Node.js 20 LTS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Express.js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Socket.io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JWT + OAuth 2.0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REST APIs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120640" y="1828800"/>
            <a:ext cx="2148840" cy="384048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F5DEB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20640" y="1828800"/>
            <a:ext cx="2148840" cy="548640"/>
          </a:xfrm>
          <a:prstGeom prst="roundRect">
            <a:avLst>
              <a:gd name="adj" fmla="val 13333"/>
            </a:avLst>
          </a:prstGeom>
          <a:solidFill>
            <a:srgbClr val="E97B1F"/>
          </a:solidFill>
          <a:ln/>
        </p:spPr>
      </p:sp>
      <p:sp>
        <p:nvSpPr>
          <p:cNvPr id="19" name="Shape 17"/>
          <p:cNvSpPr/>
          <p:nvPr/>
        </p:nvSpPr>
        <p:spPr>
          <a:xfrm>
            <a:off x="5120640" y="2194560"/>
            <a:ext cx="2148840" cy="182880"/>
          </a:xfrm>
          <a:prstGeom prst="rect">
            <a:avLst/>
          </a:prstGeom>
          <a:solidFill>
            <a:srgbClr val="E97B1F"/>
          </a:solidFill>
          <a:ln/>
        </p:spPr>
      </p:sp>
      <p:sp>
        <p:nvSpPr>
          <p:cNvPr id="20" name="Text 18"/>
          <p:cNvSpPr/>
          <p:nvPr/>
        </p:nvSpPr>
        <p:spPr>
          <a:xfrm>
            <a:off x="5120640" y="182880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57800" y="2606040"/>
            <a:ext cx="19202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Google Gemini Pro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spaCy (NLP)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TensorFlow.js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Web Speech API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LangChain.js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452360" y="1828800"/>
            <a:ext cx="2148840" cy="384048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F5DEB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52360" y="1828800"/>
            <a:ext cx="2148840" cy="548640"/>
          </a:xfrm>
          <a:prstGeom prst="roundRect">
            <a:avLst>
              <a:gd name="adj" fmla="val 13333"/>
            </a:avLst>
          </a:prstGeom>
          <a:solidFill>
            <a:srgbClr val="1E40AF"/>
          </a:solidFill>
          <a:ln/>
        </p:spPr>
      </p:sp>
      <p:sp>
        <p:nvSpPr>
          <p:cNvPr id="24" name="Shape 22"/>
          <p:cNvSpPr/>
          <p:nvPr/>
        </p:nvSpPr>
        <p:spPr>
          <a:xfrm>
            <a:off x="7452360" y="2194560"/>
            <a:ext cx="2148840" cy="1828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5" name="Text 23"/>
          <p:cNvSpPr/>
          <p:nvPr/>
        </p:nvSpPr>
        <p:spPr>
          <a:xfrm>
            <a:off x="7452360" y="182880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589520" y="2606040"/>
            <a:ext cx="19202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MongoDB Atlas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Redis (Caching)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AWS S3 (Storage)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Cloudinary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Pinecone (Vector)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784080" y="1828800"/>
            <a:ext cx="2148840" cy="384048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F5DEB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784080" y="1828800"/>
            <a:ext cx="2148840" cy="548640"/>
          </a:xfrm>
          <a:prstGeom prst="roundRect">
            <a:avLst>
              <a:gd name="adj" fmla="val 13333"/>
            </a:avLst>
          </a:prstGeom>
          <a:solidFill>
            <a:srgbClr val="7C3AED"/>
          </a:solidFill>
          <a:ln/>
        </p:spPr>
      </p:sp>
      <p:sp>
        <p:nvSpPr>
          <p:cNvPr id="29" name="Shape 27"/>
          <p:cNvSpPr/>
          <p:nvPr/>
        </p:nvSpPr>
        <p:spPr>
          <a:xfrm>
            <a:off x="9784080" y="2194560"/>
            <a:ext cx="2148840" cy="1828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9784080" y="182880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921240" y="2606040"/>
            <a:ext cx="19202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Docker + K8s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GitHub Actions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Vercel + Render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Jest + Cypress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SonarQube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585216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2D6B22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587959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7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99.9%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31520" y="61996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uptime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566160" y="587959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7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&lt;200ms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566160" y="61996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response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00800" y="587959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7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100K+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400800" y="61996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users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235440" y="587959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7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9235440" y="61996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infra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SmartHire AI · AI-Powered Placement Preparation Platform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800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49B131DF-A7FE-A9A4-9B08-9069549AEF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180" y="1737360"/>
            <a:ext cx="11661632" cy="446945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97B1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7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Innovations That Set SmartHire Apart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10972800" cy="36576"/>
          </a:xfrm>
          <a:prstGeom prst="rect">
            <a:avLst/>
          </a:prstGeom>
          <a:solidFill>
            <a:srgbClr val="E97B1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828800"/>
            <a:ext cx="21488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F5DEB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26974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Interview Copilot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1089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hints &amp; coaching during live mock sessions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88920" y="1828800"/>
            <a:ext cx="21488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F5DEB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71800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🏢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971800" y="26974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Company-Specific Prep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71800" y="31089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banks for TCS, Infosys, Google, Amazon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120640" y="1828800"/>
            <a:ext cx="21488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F5DEB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0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303520" y="26974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Benchmarking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03520" y="31089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progress with anonymous cohort data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452360" y="1828800"/>
            <a:ext cx="21488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F5DEB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35240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635240" y="26974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Notifications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635240" y="31089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AI-prioritized alerts for deadlines &amp; opportunities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784080" y="1828800"/>
            <a:ext cx="21488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F5DEB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66960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966960" y="26974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Integration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966960" y="31089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Auto-optimize LinkedIn profile from resume analysis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4069080"/>
            <a:ext cx="21488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F5DEB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251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🎥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40080" y="49377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Interview Mode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534924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practice with body language scoring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88920" y="4069080"/>
            <a:ext cx="21488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F5DEB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71800" y="4251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🗺️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2971800" y="49377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 Roadmap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971800" y="534924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learning path with resources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120640" y="4069080"/>
            <a:ext cx="21488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F5DEB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03520" y="4251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5303520" y="49377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Mock Sessions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303520" y="534924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practice with peer feedback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452360" y="4069080"/>
            <a:ext cx="21488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F5DEB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35240" y="4251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7635240" y="49377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Generator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635240" y="534924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portfolio website from resume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9784080" y="4069080"/>
            <a:ext cx="21488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F5DEB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966960" y="4251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🏫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9966960" y="49377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TPO Dashboards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9966960" y="534924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College-level analytics with cohort insights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SmartHire AI · AI-Powered Placement Preparation Platform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97B1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7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/ DEMO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Glimpse Into the SmartHire AI Experience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10972800" cy="36576"/>
          </a:xfrm>
          <a:prstGeom prst="rect">
            <a:avLst/>
          </a:prstGeom>
          <a:solidFill>
            <a:srgbClr val="E97B1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walkthrough of our key user-facing modules — from dashboard to interview to resume analysis.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19456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F5DEB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194560"/>
            <a:ext cx="3566160" cy="54864"/>
          </a:xfrm>
          <a:prstGeom prst="rect">
            <a:avLst/>
          </a:prstGeom>
          <a:solidFill>
            <a:srgbClr val="E97B1F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423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🏠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54480" y="2468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7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306324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banner, stats cards, Career Recommendations, Quick Actions, Recent Activity, Resume Score Trend &amp; Placement Readiness gauge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89120" y="219456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F5DEB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0" y="2194560"/>
            <a:ext cx="3566160" cy="5486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5" name="Text 13"/>
          <p:cNvSpPr/>
          <p:nvPr/>
        </p:nvSpPr>
        <p:spPr>
          <a:xfrm>
            <a:off x="4617720" y="2423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🎤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303520" y="2468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Interview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17720" y="306324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selection (DSA, WebDev, DBMS, OS, HR), 3 difficulty levels, real-time AI scoring with metrics, adaptive difficulty, full interview report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138160" y="219456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F5DEB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38160" y="2194560"/>
            <a:ext cx="3566160" cy="54864"/>
          </a:xfrm>
          <a:prstGeom prst="rect">
            <a:avLst/>
          </a:prstGeom>
          <a:solidFill>
            <a:srgbClr val="2D6B22"/>
          </a:solidFill>
          <a:ln/>
        </p:spPr>
      </p:sp>
      <p:sp>
        <p:nvSpPr>
          <p:cNvPr id="20" name="Text 18"/>
          <p:cNvSpPr/>
          <p:nvPr/>
        </p:nvSpPr>
        <p:spPr>
          <a:xfrm>
            <a:off x="8366760" y="2423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052560" y="2468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6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Analyzer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66760" y="306324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PDF/DOCX upload, ATS score (0-100), keyword analysis, AI suggestions by priority, JD matching, live resume builder with PDF export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0080" y="438912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F5DEB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4389120"/>
            <a:ext cx="356616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4617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💼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554480" y="46634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Tracker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68680" y="525780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applications with company, role, salary, mode. Kanban view + Table view, stage filters, search, analytics dashboard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89120" y="438912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F5DEB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89120" y="4389120"/>
            <a:ext cx="356616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4617720" y="4617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303520" y="46634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Guide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617720" y="525780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18+ career paths with match scores, skill gaps, learning roadmap, market trends, company insights, salary projections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138160" y="438912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F5DEB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38160" y="4389120"/>
            <a:ext cx="356616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5" name="Text 33"/>
          <p:cNvSpPr/>
          <p:nvPr/>
        </p:nvSpPr>
        <p:spPr>
          <a:xfrm>
            <a:off x="8366760" y="4617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9052560" y="46634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366760" y="525780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Picture upload, edit personal info, education, skills, projects, certifications with PDF upload, career goals — fully editable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SmartHire AI · AI-Powered Placement Preparation Platform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97B1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7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IMPACT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SmartHire AI Stands Out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10972800" cy="36576"/>
          </a:xfrm>
          <a:prstGeom prst="rect">
            <a:avLst/>
          </a:prstGeom>
          <a:solidFill>
            <a:srgbClr val="E97B1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916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 solve one piece of the puzzle. SmartHire AI is the only platform that fuses mock interviews, resume intelligence, and job tracking into a single, student-friendly AI experience.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331720"/>
          <a:ext cx="10972800" cy="306324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Interview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SmartHire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Mock Interviews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ATS Resume Scoring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 Application Tracker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Adaptive AI Difficulty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Voice Interview Mode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Career Recommendations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for Students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40080" y="5852160"/>
            <a:ext cx="10972800" cy="640080"/>
          </a:xfrm>
          <a:prstGeom prst="roundRect">
            <a:avLst>
              <a:gd name="adj" fmla="val 7143"/>
            </a:avLst>
          </a:prstGeom>
          <a:solidFill>
            <a:srgbClr val="FFF3E0"/>
          </a:solidFill>
          <a:ln w="12700">
            <a:solidFill>
              <a:srgbClr val="E97B1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58521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Our Moat: Unified AI ecosystem where interview performance informs resume improvements, and job tracking drives preparation priorities — creating a continuous feedback loop.</a:t>
            </a:r>
            <a:endParaRPr lang="en-US" sz="1050" dirty="0"/>
          </a:p>
        </p:txBody>
      </p:sp>
      <p:sp>
        <p:nvSpPr>
          <p:cNvPr id="8" name="Text 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SmartHire AI · AI-Powered Placement Preparation Platform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97B1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7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National Scale — 1M+ Users Ready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10972800" cy="36576"/>
          </a:xfrm>
          <a:prstGeom prst="rect">
            <a:avLst/>
          </a:prstGeom>
          <a:solidFill>
            <a:srgbClr val="E97B1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91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day one, SmartHire AI's architecture is designed to scale horizontally with growing demand, ensuring sub-200ms response times even at peak load.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F5DEB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468880"/>
            <a:ext cx="502920" cy="502920"/>
          </a:xfrm>
          <a:prstGeom prst="roundRect">
            <a:avLst>
              <a:gd name="adj" fmla="val 7273"/>
            </a:avLst>
          </a:prstGeom>
          <a:solidFill>
            <a:srgbClr val="E97B1F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🏗️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24688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Architecture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2960" y="306324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 (Auth, Interview, Resume, Tracker) scales independently based on load. No bottleneck.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89120" y="228600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F5DEB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2468880"/>
            <a:ext cx="502920" cy="502920"/>
          </a:xfrm>
          <a:prstGeom prst="roundRect">
            <a:avLst>
              <a:gd name="adj" fmla="val 7273"/>
            </a:avLst>
          </a:prstGeom>
          <a:solidFill>
            <a:srgbClr val="2D6B22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🗄️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166360" y="24688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+ Sharding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0" y="306324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Auto-scaling clusters with sharding strategies for millions of resume documents and user records.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138160" y="228600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F5DEB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21040" y="2468880"/>
            <a:ext cx="502920" cy="502920"/>
          </a:xfrm>
          <a:prstGeom prst="roundRect">
            <a:avLst>
              <a:gd name="adj" fmla="val 7273"/>
            </a:avLst>
          </a:prstGeom>
          <a:solidFill>
            <a:srgbClr val="1E40AF"/>
          </a:solidFill>
          <a:ln/>
        </p:spPr>
      </p:sp>
      <p:sp>
        <p:nvSpPr>
          <p:cNvPr id="20" name="Text 18"/>
          <p:cNvSpPr/>
          <p:nvPr/>
        </p:nvSpPr>
        <p:spPr>
          <a:xfrm>
            <a:off x="8321040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15400" y="24688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Caching Layer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321040" y="306324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data (sessions, AI responses) cached in Redis for &lt;50ms access. CDN for static assets.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0080" y="416052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F5DEB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" y="4343400"/>
            <a:ext cx="502920" cy="502920"/>
          </a:xfrm>
          <a:prstGeom prst="roundRect">
            <a:avLst>
              <a:gd name="adj" fmla="val 7273"/>
            </a:avLst>
          </a:prstGeom>
          <a:solidFill>
            <a:srgbClr val="0891B2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4343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🐳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17320" y="43434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Kubernetes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22960" y="493776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 deployment with K8s orchestration. Auto-scaling pods based on CPU/memory metrics.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89120" y="416052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F5DEB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0" y="4343400"/>
            <a:ext cx="502920" cy="502920"/>
          </a:xfrm>
          <a:prstGeom prst="roundRect">
            <a:avLst>
              <a:gd name="adj" fmla="val 7273"/>
            </a:avLst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0" y="4343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🔄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166360" y="43434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Pipeline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572000" y="493776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processing with message queues (RabbitMQ) for AI tasks, notifications &amp; background jobs.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138160" y="416052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F5DEB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21040" y="4343400"/>
            <a:ext cx="502920" cy="502920"/>
          </a:xfrm>
          <a:prstGeom prst="roundRect">
            <a:avLst>
              <a:gd name="adj" fmla="val 7273"/>
            </a:avLst>
          </a:prstGeom>
          <a:solidFill>
            <a:srgbClr val="DC2626"/>
          </a:solidFill>
          <a:ln/>
        </p:spPr>
      </p:sp>
      <p:sp>
        <p:nvSpPr>
          <p:cNvPr id="35" name="Text 33"/>
          <p:cNvSpPr/>
          <p:nvPr/>
        </p:nvSpPr>
        <p:spPr>
          <a:xfrm>
            <a:off x="8321040" y="4343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🌍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915400" y="43434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Multi-Region Deployment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321040" y="493776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Active-active deployment across AWS regions for low latency, fault tolerance &amp; disaster recovery.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40080" y="6126480"/>
            <a:ext cx="10972800" cy="502920"/>
          </a:xfrm>
          <a:prstGeom prst="roundRect">
            <a:avLst>
              <a:gd name="adj" fmla="val 9091"/>
            </a:avLst>
          </a:prstGeom>
          <a:solidFill>
            <a:srgbClr val="2D6B22"/>
          </a:solidFill>
          <a:ln/>
        </p:spPr>
      </p:sp>
      <p:sp>
        <p:nvSpPr>
          <p:cNvPr id="39" name="Text 37"/>
          <p:cNvSpPr/>
          <p:nvPr/>
        </p:nvSpPr>
        <p:spPr>
          <a:xfrm>
            <a:off x="914400" y="614476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7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1M+ — Users supported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611880" y="614476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7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&lt;200ms — p95 response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309360" y="614476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7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99.9% — Uptime SLA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006840" y="614476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7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Auto-scale — Horizontal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SmartHire AI · AI-Powered Placement Preparation Platform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97B1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7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SOCIAL IMPACT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Empowering Students, Strengthening Institutions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10972800" cy="36576"/>
          </a:xfrm>
          <a:prstGeom prst="rect">
            <a:avLst/>
          </a:prstGeom>
          <a:solidFill>
            <a:srgbClr val="E97B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828800"/>
            <a:ext cx="35661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F5DEB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828800"/>
            <a:ext cx="3566160" cy="54864"/>
          </a:xfrm>
          <a:prstGeom prst="rect">
            <a:avLst/>
          </a:prstGeom>
          <a:solidFill>
            <a:srgbClr val="E97B1F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0116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Impact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25146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7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011680" y="25146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preparation time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68680" y="30632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7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011680" y="30632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interview confidence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68680" y="3611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7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85%+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011680" y="36118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ATS-compatible resumes created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68680" y="41605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7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hrs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011680" y="41605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per week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389120" y="1828800"/>
            <a:ext cx="35661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F5DEB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89120" y="1828800"/>
            <a:ext cx="3566160" cy="5486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0" name="Text 18"/>
          <p:cNvSpPr/>
          <p:nvPr/>
        </p:nvSpPr>
        <p:spPr>
          <a:xfrm>
            <a:off x="4617720" y="20116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Impact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617720" y="25146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60720" y="25146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placement success rate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617720" y="30632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760720" y="30632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analytics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617720" y="3611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760720" y="36118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reputation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617720" y="41605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Equitable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760720" y="41605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2-3 college support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138160" y="1828800"/>
            <a:ext cx="35661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F5DEB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38160" y="1828800"/>
            <a:ext cx="356616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1" name="Text 29"/>
          <p:cNvSpPr/>
          <p:nvPr/>
        </p:nvSpPr>
        <p:spPr>
          <a:xfrm>
            <a:off x="8366760" y="20116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Impact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366760" y="25146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509760" y="25146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screening time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366760" y="30632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509760" y="30632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of candidates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366760" y="3611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509760" y="36118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pipeline access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366760" y="41605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509760" y="41605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Cost-per-hire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40080" y="5120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7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WITH UN SUSTAINABLE DEVELOPMENT GOALS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080" y="5532120"/>
            <a:ext cx="2103120" cy="868680"/>
          </a:xfrm>
          <a:prstGeom prst="roundRect">
            <a:avLst>
              <a:gd name="adj" fmla="val 5263"/>
            </a:avLst>
          </a:prstGeom>
          <a:solidFill>
            <a:srgbClr val="2D6B22"/>
          </a:solidFill>
          <a:ln/>
        </p:spPr>
      </p:sp>
      <p:sp>
        <p:nvSpPr>
          <p:cNvPr id="42" name="Text 40"/>
          <p:cNvSpPr/>
          <p:nvPr/>
        </p:nvSpPr>
        <p:spPr>
          <a:xfrm>
            <a:off x="640080" y="55778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97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4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40080" y="59893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Education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880360" y="5532120"/>
            <a:ext cx="2103120" cy="868680"/>
          </a:xfrm>
          <a:prstGeom prst="roundRect">
            <a:avLst>
              <a:gd name="adj" fmla="val 5263"/>
            </a:avLst>
          </a:prstGeom>
          <a:solidFill>
            <a:srgbClr val="2D6B22"/>
          </a:solidFill>
          <a:ln/>
        </p:spPr>
      </p:sp>
      <p:sp>
        <p:nvSpPr>
          <p:cNvPr id="45" name="Text 43"/>
          <p:cNvSpPr/>
          <p:nvPr/>
        </p:nvSpPr>
        <p:spPr>
          <a:xfrm>
            <a:off x="2880360" y="55778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97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5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2880360" y="59893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Equality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120640" y="5532120"/>
            <a:ext cx="2103120" cy="868680"/>
          </a:xfrm>
          <a:prstGeom prst="roundRect">
            <a:avLst>
              <a:gd name="adj" fmla="val 5263"/>
            </a:avLst>
          </a:prstGeom>
          <a:solidFill>
            <a:srgbClr val="2D6B22"/>
          </a:solidFill>
          <a:ln/>
        </p:spPr>
      </p:sp>
      <p:sp>
        <p:nvSpPr>
          <p:cNvPr id="48" name="Text 46"/>
          <p:cNvSpPr/>
          <p:nvPr/>
        </p:nvSpPr>
        <p:spPr>
          <a:xfrm>
            <a:off x="5120640" y="55778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97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8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120640" y="59893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 Work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360920" y="5532120"/>
            <a:ext cx="2103120" cy="868680"/>
          </a:xfrm>
          <a:prstGeom prst="roundRect">
            <a:avLst>
              <a:gd name="adj" fmla="val 5263"/>
            </a:avLst>
          </a:prstGeom>
          <a:solidFill>
            <a:srgbClr val="2D6B22"/>
          </a:solidFill>
          <a:ln/>
        </p:spPr>
      </p:sp>
      <p:sp>
        <p:nvSpPr>
          <p:cNvPr id="51" name="Text 49"/>
          <p:cNvSpPr/>
          <p:nvPr/>
        </p:nvSpPr>
        <p:spPr>
          <a:xfrm>
            <a:off x="7360920" y="55778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97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9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7360920" y="59893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9601200" y="5532120"/>
            <a:ext cx="2103120" cy="868680"/>
          </a:xfrm>
          <a:prstGeom prst="roundRect">
            <a:avLst>
              <a:gd name="adj" fmla="val 5263"/>
            </a:avLst>
          </a:prstGeom>
          <a:solidFill>
            <a:srgbClr val="2D6B22"/>
          </a:solidFill>
          <a:ln/>
        </p:spPr>
      </p:sp>
      <p:sp>
        <p:nvSpPr>
          <p:cNvPr id="54" name="Text 52"/>
          <p:cNvSpPr/>
          <p:nvPr/>
        </p:nvSpPr>
        <p:spPr>
          <a:xfrm>
            <a:off x="9601200" y="55778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97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10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9601200" y="59893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Inequality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SmartHire AI · AI-Powered Placement Preparation Platform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97B1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7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— From Prototype to National Scale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10972800" cy="36576"/>
          </a:xfrm>
          <a:prstGeom prst="rect">
            <a:avLst/>
          </a:prstGeom>
          <a:solidFill>
            <a:srgbClr val="E97B1F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2286000"/>
            <a:ext cx="10058400" cy="36576"/>
          </a:xfrm>
          <a:prstGeom prst="rect">
            <a:avLst/>
          </a:prstGeom>
          <a:solidFill>
            <a:srgbClr val="F5DEB3"/>
          </a:solidFill>
          <a:ln/>
        </p:spPr>
      </p:sp>
      <p:sp>
        <p:nvSpPr>
          <p:cNvPr id="8" name="Shape 6"/>
          <p:cNvSpPr/>
          <p:nvPr/>
        </p:nvSpPr>
        <p:spPr>
          <a:xfrm>
            <a:off x="1097280" y="2121408"/>
            <a:ext cx="365760" cy="365760"/>
          </a:xfrm>
          <a:prstGeom prst="ellipse">
            <a:avLst/>
          </a:prstGeom>
          <a:solidFill>
            <a:srgbClr val="2D6B22"/>
          </a:solidFill>
          <a:ln/>
        </p:spPr>
      </p:sp>
      <p:sp>
        <p:nvSpPr>
          <p:cNvPr id="9" name="Shape 7"/>
          <p:cNvSpPr/>
          <p:nvPr/>
        </p:nvSpPr>
        <p:spPr>
          <a:xfrm>
            <a:off x="4434840" y="2121408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0" y="2121408"/>
            <a:ext cx="365760" cy="365760"/>
          </a:xfrm>
          <a:prstGeom prst="ellipse">
            <a:avLst/>
          </a:prstGeom>
          <a:solidFill>
            <a:srgbClr val="E97B1F"/>
          </a:solidFill>
          <a:ln/>
        </p:spPr>
      </p:sp>
      <p:sp>
        <p:nvSpPr>
          <p:cNvPr id="11" name="Shape 9"/>
          <p:cNvSpPr/>
          <p:nvPr/>
        </p:nvSpPr>
        <p:spPr>
          <a:xfrm>
            <a:off x="11109960" y="2121408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651760"/>
            <a:ext cx="2743200" cy="31089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F5DEB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65176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2D6B22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3108960"/>
            <a:ext cx="2743200" cy="182880"/>
          </a:xfrm>
          <a:prstGeom prst="rect">
            <a:avLst/>
          </a:prstGeom>
          <a:solidFill>
            <a:srgbClr val="2D6B22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6517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0-3 Months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3832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384048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Requirements &amp; system design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Core API development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Mock interview MVP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Resume parser v1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Auth &amp; user management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383280" y="2651760"/>
            <a:ext cx="2743200" cy="31089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F5DEB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83280" y="265176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0891B2"/>
          </a:solidFill>
          <a:ln/>
        </p:spPr>
      </p:sp>
      <p:sp>
        <p:nvSpPr>
          <p:cNvPr id="20" name="Shape 18"/>
          <p:cNvSpPr/>
          <p:nvPr/>
        </p:nvSpPr>
        <p:spPr>
          <a:xfrm>
            <a:off x="3383280" y="3108960"/>
            <a:ext cx="2743200" cy="1828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3383280" y="26517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3-6 Months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566160" y="33832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Launch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566160" y="384048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feature development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model fine-tuning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 college pilot testing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 feedback iteration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LinkedIn integration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309360" y="2651760"/>
            <a:ext cx="2743200" cy="31089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F5DEB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09360" y="265176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E97B1F"/>
          </a:solidFill>
          <a:ln/>
        </p:spPr>
      </p:sp>
      <p:sp>
        <p:nvSpPr>
          <p:cNvPr id="26" name="Shape 24"/>
          <p:cNvSpPr/>
          <p:nvPr/>
        </p:nvSpPr>
        <p:spPr>
          <a:xfrm>
            <a:off x="6309360" y="3108960"/>
            <a:ext cx="2743200" cy="182880"/>
          </a:xfrm>
          <a:prstGeom prst="rect">
            <a:avLst/>
          </a:prstGeom>
          <a:solidFill>
            <a:srgbClr val="E97B1F"/>
          </a:solidFill>
          <a:ln/>
        </p:spPr>
      </p:sp>
      <p:sp>
        <p:nvSpPr>
          <p:cNvPr id="27" name="Text 25"/>
          <p:cNvSpPr/>
          <p:nvPr/>
        </p:nvSpPr>
        <p:spPr>
          <a:xfrm>
            <a:off x="6309360" y="26517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6-12 Months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92240" y="33832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92240" y="384048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25+ college deployment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Voice + vernacular support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Mobile app (React Native)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B2B API launch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Video interview mode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9235440" y="2651760"/>
            <a:ext cx="2743200" cy="31089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F5DEB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235440" y="265176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7C3AED"/>
          </a:solidFill>
          <a:ln/>
        </p:spPr>
      </p:sp>
      <p:sp>
        <p:nvSpPr>
          <p:cNvPr id="32" name="Shape 30"/>
          <p:cNvSpPr/>
          <p:nvPr/>
        </p:nvSpPr>
        <p:spPr>
          <a:xfrm>
            <a:off x="9235440" y="3108960"/>
            <a:ext cx="2743200" cy="1828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3" name="Text 31"/>
          <p:cNvSpPr/>
          <p:nvPr/>
        </p:nvSpPr>
        <p:spPr>
          <a:xfrm>
            <a:off x="9235440" y="26517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1-3 Years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418320" y="33832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418320" y="384048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1L+ students served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Pan-India coverage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AI ecosystem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Marketplace launch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Government partnerships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7200" y="5897880"/>
            <a:ext cx="11247120" cy="685800"/>
          </a:xfrm>
          <a:prstGeom prst="roundRect">
            <a:avLst>
              <a:gd name="adj" fmla="val 6667"/>
            </a:avLst>
          </a:prstGeom>
          <a:solidFill>
            <a:srgbClr val="2D6B22"/>
          </a:solidFill>
          <a:ln/>
        </p:spPr>
      </p:sp>
      <p:sp>
        <p:nvSpPr>
          <p:cNvPr id="37" name="Text 35"/>
          <p:cNvSpPr/>
          <p:nvPr/>
        </p:nvSpPr>
        <p:spPr>
          <a:xfrm>
            <a:off x="731520" y="59253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7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2030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31520" y="6245352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SmartHire AI becomes India's most trusted AI placement platform — 1 Million+ students across 1000+ colleges, transforming campus hiring forever.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SmartHire AI · AI-Powered Placement Preparation Platform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97B1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7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DETAILS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Team TwinTech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10972800" cy="36576"/>
          </a:xfrm>
          <a:prstGeom prst="rect">
            <a:avLst/>
          </a:prstGeom>
          <a:solidFill>
            <a:srgbClr val="E97B1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minds, one mission — making placement preparation smarter for every Indian student.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539496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F5DEB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80360" y="2560320"/>
            <a:ext cx="914400" cy="914400"/>
          </a:xfrm>
          <a:prstGeom prst="ellipse">
            <a:avLst/>
          </a:prstGeom>
          <a:solidFill>
            <a:srgbClr val="E97B1F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0360" y="25603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914400" y="36576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Yashvant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14400" y="4114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97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Developer &amp; AI Engineer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4572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Backend Architecture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429000" y="4572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Node.js / Express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005840" y="4937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MongoDB / Database Design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429000" y="4937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Google Gemini AI Integration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005840" y="53035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NLP &amp; ML Algorithms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429000" y="53035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DevOps &amp; Cloud (AWS)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17920" y="2286000"/>
            <a:ext cx="539496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F5DEB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58200" y="2560320"/>
            <a:ext cx="914400" cy="914400"/>
          </a:xfrm>
          <a:prstGeom prst="ellipse">
            <a:avLst/>
          </a:prstGeom>
          <a:solidFill>
            <a:srgbClr val="0891B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58200" y="25603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492240" y="36576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Shivani Kapase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492240" y="4114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Developer &amp; UX Designer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83680" y="4572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React.js &amp; Redux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9006840" y="4572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UI/UX Design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583680" y="4937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Tailwind CSS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006840" y="4937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Visualization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583680" y="53035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 Research &amp; Testing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006840" y="53035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Frontend Architecture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371600" y="6263640"/>
            <a:ext cx="9418320" cy="365760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/>
        </p:spPr>
      </p:sp>
      <p:sp>
        <p:nvSpPr>
          <p:cNvPr id="31" name="Text 29"/>
          <p:cNvSpPr/>
          <p:nvPr/>
        </p:nvSpPr>
        <p:spPr>
          <a:xfrm>
            <a:off x="1371600" y="626364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97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"Twin minds, one mission — making placement prep smarter for every student."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SmartHire AI · AI-Powered Placement Preparation Platform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97B1F"/>
          </a:solidFill>
          <a:ln/>
        </p:spPr>
      </p:sp>
      <p:sp>
        <p:nvSpPr>
          <p:cNvPr id="4" name="Shape 2"/>
          <p:cNvSpPr/>
          <p:nvPr/>
        </p:nvSpPr>
        <p:spPr>
          <a:xfrm>
            <a:off x="5440680" y="64008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E97B1F"/>
          </a:solidFill>
          <a:ln/>
        </p:spPr>
      </p:sp>
      <p:sp>
        <p:nvSpPr>
          <p:cNvPr id="5" name="Text 3"/>
          <p:cNvSpPr/>
          <p:nvPr/>
        </p:nvSpPr>
        <p:spPr>
          <a:xfrm>
            <a:off x="5440680" y="6400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355080" y="7772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SmartHire AI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0" y="1737360"/>
            <a:ext cx="121889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0" y="292608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E97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"Prepare. Perform. Get Placed."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286000" y="3657600"/>
            <a:ext cx="7589520" cy="2011680"/>
          </a:xfrm>
          <a:prstGeom prst="roundRect">
            <a:avLst>
              <a:gd name="adj" fmla="val 4545"/>
            </a:avLst>
          </a:prstGeom>
          <a:solidFill>
            <a:srgbClr val="E97B1F"/>
          </a:solidFill>
          <a:ln/>
        </p:spPr>
      </p:sp>
      <p:sp>
        <p:nvSpPr>
          <p:cNvPr id="10" name="Text 8"/>
          <p:cNvSpPr/>
          <p:nvPr/>
        </p:nvSpPr>
        <p:spPr>
          <a:xfrm>
            <a:off x="2606040" y="3794760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Mock Interview — NLP + Voice + Adaptive Difficulty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06040" y="4160520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Resume Analyzer — ATS Scoring + ML Optimization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06040" y="4526280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Job Tracker — Kanban + Analytics + Calendar Sync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06040" y="4892040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MERN Stack + Gemini AI + Microservices + DevOps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06040" y="5257800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Freemium Model | 1L+ Users Target | College Partnerships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0" y="5852160"/>
            <a:ext cx="5760720" cy="777240"/>
          </a:xfrm>
          <a:prstGeom prst="roundRect">
            <a:avLst>
              <a:gd name="adj" fmla="val 9412"/>
            </a:avLst>
          </a:prstGeom>
          <a:solidFill>
            <a:srgbClr val="C4600A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0" y="58978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TwinTech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200400" y="626364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E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Yashvant  •  Shivani  •  Hackathon Round 1  |  June 2026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2066</Words>
  <Application>Microsoft Office PowerPoint</Application>
  <PresentationFormat>Custom</PresentationFormat>
  <Paragraphs>460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SmartHire AI - Final Hackathon Deck</dc:title>
  <dc:subject>PptxGenJS Presentation</dc:subject>
  <dc:creator>Team TwinTech - Yashvant &amp; Shivani</dc:creator>
  <cp:lastModifiedBy>F24121002 shivani kapase TE1</cp:lastModifiedBy>
  <cp:revision>2</cp:revision>
  <dcterms:created xsi:type="dcterms:W3CDTF">2026-06-21T08:55:01Z</dcterms:created>
  <dcterms:modified xsi:type="dcterms:W3CDTF">2026-06-22T07:01:51Z</dcterms:modified>
</cp:coreProperties>
</file>